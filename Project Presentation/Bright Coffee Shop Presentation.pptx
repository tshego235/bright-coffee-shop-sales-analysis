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Lst>
  <p:sldSz cx="18288000" cy="10287000"/>
  <p:notesSz cx="6858000" cy="9144000"/>
  <p:embeddedFontLst>
    <p:embeddedFont>
      <p:font typeface="Helvetica World" panose="020B0604020202020204" charset="-128"/>
      <p:regular r:id="rId7"/>
    </p:embeddedFont>
    <p:embeddedFont>
      <p:font typeface="Helvetica World Bold" panose="020B0604020202020204" charset="-128"/>
      <p:regular r:id="rId8"/>
    </p:embeddedFont>
    <p:embeddedFont>
      <p:font typeface="Norwester" panose="020B0604020202020204" charset="0"/>
      <p:regular r:id="rId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2" d="100"/>
          <a:sy n="42" d="100"/>
        </p:scale>
        <p:origin x="91"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font" Target="fonts/font1.fntdata"/><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5.sv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CEE"/>
        </a:solidFill>
        <a:effectLst/>
      </p:bgPr>
    </p:bg>
    <p:spTree>
      <p:nvGrpSpPr>
        <p:cNvPr id="1" name=""/>
        <p:cNvGrpSpPr/>
        <p:nvPr/>
      </p:nvGrpSpPr>
      <p:grpSpPr>
        <a:xfrm>
          <a:off x="0" y="0"/>
          <a:ext cx="0" cy="0"/>
          <a:chOff x="0" y="0"/>
          <a:chExt cx="0" cy="0"/>
        </a:xfrm>
      </p:grpSpPr>
      <p:grpSp>
        <p:nvGrpSpPr>
          <p:cNvPr id="2" name="Group 2"/>
          <p:cNvGrpSpPr/>
          <p:nvPr/>
        </p:nvGrpSpPr>
        <p:grpSpPr>
          <a:xfrm>
            <a:off x="14860905" y="2970157"/>
            <a:ext cx="3427095" cy="7648503"/>
            <a:chOff x="0" y="0"/>
            <a:chExt cx="902609" cy="2014421"/>
          </a:xfrm>
        </p:grpSpPr>
        <p:sp>
          <p:nvSpPr>
            <p:cNvPr id="3" name="Freeform 3"/>
            <p:cNvSpPr/>
            <p:nvPr/>
          </p:nvSpPr>
          <p:spPr>
            <a:xfrm>
              <a:off x="0" y="0"/>
              <a:ext cx="902609" cy="2014421"/>
            </a:xfrm>
            <a:custGeom>
              <a:avLst/>
              <a:gdLst/>
              <a:ahLst/>
              <a:cxnLst/>
              <a:rect l="l" t="t" r="r" b="b"/>
              <a:pathLst>
                <a:path w="902609" h="2014421">
                  <a:moveTo>
                    <a:pt x="0" y="0"/>
                  </a:moveTo>
                  <a:lnTo>
                    <a:pt x="902609" y="0"/>
                  </a:lnTo>
                  <a:lnTo>
                    <a:pt x="902609" y="2014421"/>
                  </a:lnTo>
                  <a:lnTo>
                    <a:pt x="0" y="2014421"/>
                  </a:lnTo>
                  <a:close/>
                </a:path>
              </a:pathLst>
            </a:custGeom>
            <a:solidFill>
              <a:srgbClr val="EAE5CF"/>
            </a:solidFill>
          </p:spPr>
        </p:sp>
        <p:sp>
          <p:nvSpPr>
            <p:cNvPr id="4" name="TextBox 4"/>
            <p:cNvSpPr txBox="1"/>
            <p:nvPr/>
          </p:nvSpPr>
          <p:spPr>
            <a:xfrm>
              <a:off x="0" y="-38100"/>
              <a:ext cx="902609" cy="2052521"/>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2012930" y="2970157"/>
            <a:ext cx="5246370" cy="6288143"/>
            <a:chOff x="0" y="0"/>
            <a:chExt cx="812800" cy="974198"/>
          </a:xfrm>
        </p:grpSpPr>
        <p:sp>
          <p:nvSpPr>
            <p:cNvPr id="6" name="Freeform 6"/>
            <p:cNvSpPr/>
            <p:nvPr/>
          </p:nvSpPr>
          <p:spPr>
            <a:xfrm>
              <a:off x="0" y="0"/>
              <a:ext cx="812800" cy="974198"/>
            </a:xfrm>
            <a:custGeom>
              <a:avLst/>
              <a:gdLst/>
              <a:ahLst/>
              <a:cxnLst/>
              <a:rect l="l" t="t" r="r" b="b"/>
              <a:pathLst>
                <a:path w="812800" h="974198">
                  <a:moveTo>
                    <a:pt x="0" y="0"/>
                  </a:moveTo>
                  <a:lnTo>
                    <a:pt x="812800" y="0"/>
                  </a:lnTo>
                  <a:lnTo>
                    <a:pt x="812800" y="974198"/>
                  </a:lnTo>
                  <a:lnTo>
                    <a:pt x="0" y="974198"/>
                  </a:lnTo>
                  <a:close/>
                </a:path>
              </a:pathLst>
            </a:custGeom>
            <a:blipFill>
              <a:blip r:embed="rId2"/>
              <a:stretch>
                <a:fillRect t="-5621" b="-5621"/>
              </a:stretch>
            </a:blipFill>
          </p:spPr>
        </p:sp>
      </p:grpSp>
      <p:sp>
        <p:nvSpPr>
          <p:cNvPr id="7" name="Freeform 7"/>
          <p:cNvSpPr/>
          <p:nvPr/>
        </p:nvSpPr>
        <p:spPr>
          <a:xfrm>
            <a:off x="14527388" y="1058655"/>
            <a:ext cx="446843" cy="446843"/>
          </a:xfrm>
          <a:custGeom>
            <a:avLst/>
            <a:gdLst/>
            <a:ahLst/>
            <a:cxnLst/>
            <a:rect l="l" t="t" r="r" b="b"/>
            <a:pathLst>
              <a:path w="446843" h="446843">
                <a:moveTo>
                  <a:pt x="0" y="0"/>
                </a:moveTo>
                <a:lnTo>
                  <a:pt x="446842" y="0"/>
                </a:lnTo>
                <a:lnTo>
                  <a:pt x="446842" y="446842"/>
                </a:lnTo>
                <a:lnTo>
                  <a:pt x="0" y="44684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8" name="Group 8"/>
          <p:cNvGrpSpPr/>
          <p:nvPr/>
        </p:nvGrpSpPr>
        <p:grpSpPr>
          <a:xfrm>
            <a:off x="7268502" y="6360953"/>
            <a:ext cx="4744428" cy="2897347"/>
            <a:chOff x="0" y="0"/>
            <a:chExt cx="1249561" cy="763087"/>
          </a:xfrm>
        </p:grpSpPr>
        <p:sp>
          <p:nvSpPr>
            <p:cNvPr id="9" name="Freeform 9"/>
            <p:cNvSpPr/>
            <p:nvPr/>
          </p:nvSpPr>
          <p:spPr>
            <a:xfrm>
              <a:off x="0" y="0"/>
              <a:ext cx="1249561" cy="763087"/>
            </a:xfrm>
            <a:custGeom>
              <a:avLst/>
              <a:gdLst/>
              <a:ahLst/>
              <a:cxnLst/>
              <a:rect l="l" t="t" r="r" b="b"/>
              <a:pathLst>
                <a:path w="1249561" h="763087">
                  <a:moveTo>
                    <a:pt x="0" y="0"/>
                  </a:moveTo>
                  <a:lnTo>
                    <a:pt x="1249561" y="0"/>
                  </a:lnTo>
                  <a:lnTo>
                    <a:pt x="1249561" y="763087"/>
                  </a:lnTo>
                  <a:lnTo>
                    <a:pt x="0" y="763087"/>
                  </a:lnTo>
                  <a:close/>
                </a:path>
              </a:pathLst>
            </a:custGeom>
            <a:solidFill>
              <a:srgbClr val="78553F"/>
            </a:solidFill>
          </p:spPr>
        </p:sp>
        <p:sp>
          <p:nvSpPr>
            <p:cNvPr id="10" name="TextBox 10"/>
            <p:cNvSpPr txBox="1"/>
            <p:nvPr/>
          </p:nvSpPr>
          <p:spPr>
            <a:xfrm>
              <a:off x="0" y="-38100"/>
              <a:ext cx="1249561" cy="801187"/>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11164899" y="2122126"/>
            <a:ext cx="848031" cy="848031"/>
            <a:chOff x="0" y="0"/>
            <a:chExt cx="223350" cy="223350"/>
          </a:xfrm>
        </p:grpSpPr>
        <p:sp>
          <p:nvSpPr>
            <p:cNvPr id="12" name="Freeform 12"/>
            <p:cNvSpPr/>
            <p:nvPr/>
          </p:nvSpPr>
          <p:spPr>
            <a:xfrm>
              <a:off x="0" y="0"/>
              <a:ext cx="223350" cy="223350"/>
            </a:xfrm>
            <a:custGeom>
              <a:avLst/>
              <a:gdLst/>
              <a:ahLst/>
              <a:cxnLst/>
              <a:rect l="l" t="t" r="r" b="b"/>
              <a:pathLst>
                <a:path w="223350" h="223350">
                  <a:moveTo>
                    <a:pt x="0" y="0"/>
                  </a:moveTo>
                  <a:lnTo>
                    <a:pt x="223350" y="0"/>
                  </a:lnTo>
                  <a:lnTo>
                    <a:pt x="223350" y="223350"/>
                  </a:lnTo>
                  <a:lnTo>
                    <a:pt x="0" y="223350"/>
                  </a:lnTo>
                  <a:close/>
                </a:path>
              </a:pathLst>
            </a:custGeom>
            <a:solidFill>
              <a:srgbClr val="EAE5CF"/>
            </a:solidFill>
          </p:spPr>
        </p:sp>
        <p:sp>
          <p:nvSpPr>
            <p:cNvPr id="13" name="TextBox 13"/>
            <p:cNvSpPr txBox="1"/>
            <p:nvPr/>
          </p:nvSpPr>
          <p:spPr>
            <a:xfrm>
              <a:off x="0" y="-38100"/>
              <a:ext cx="223350" cy="261450"/>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3415074" y="6708363"/>
            <a:ext cx="848031" cy="848031"/>
            <a:chOff x="0" y="0"/>
            <a:chExt cx="223350" cy="223350"/>
          </a:xfrm>
        </p:grpSpPr>
        <p:sp>
          <p:nvSpPr>
            <p:cNvPr id="15" name="Freeform 15"/>
            <p:cNvSpPr/>
            <p:nvPr/>
          </p:nvSpPr>
          <p:spPr>
            <a:xfrm>
              <a:off x="0" y="0"/>
              <a:ext cx="223350" cy="223350"/>
            </a:xfrm>
            <a:custGeom>
              <a:avLst/>
              <a:gdLst/>
              <a:ahLst/>
              <a:cxnLst/>
              <a:rect l="l" t="t" r="r" b="b"/>
              <a:pathLst>
                <a:path w="223350" h="223350">
                  <a:moveTo>
                    <a:pt x="0" y="0"/>
                  </a:moveTo>
                  <a:lnTo>
                    <a:pt x="223350" y="0"/>
                  </a:lnTo>
                  <a:lnTo>
                    <a:pt x="223350" y="223350"/>
                  </a:lnTo>
                  <a:lnTo>
                    <a:pt x="0" y="223350"/>
                  </a:lnTo>
                  <a:close/>
                </a:path>
              </a:pathLst>
            </a:custGeom>
            <a:solidFill>
              <a:srgbClr val="EAE5CF"/>
            </a:solidFill>
          </p:spPr>
        </p:sp>
        <p:sp>
          <p:nvSpPr>
            <p:cNvPr id="16" name="TextBox 16"/>
            <p:cNvSpPr txBox="1"/>
            <p:nvPr/>
          </p:nvSpPr>
          <p:spPr>
            <a:xfrm>
              <a:off x="0" y="-38100"/>
              <a:ext cx="223350" cy="26145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4263106" y="6360953"/>
            <a:ext cx="376150" cy="376150"/>
            <a:chOff x="0" y="0"/>
            <a:chExt cx="99068" cy="99068"/>
          </a:xfrm>
        </p:grpSpPr>
        <p:sp>
          <p:nvSpPr>
            <p:cNvPr id="18" name="Freeform 18"/>
            <p:cNvSpPr/>
            <p:nvPr/>
          </p:nvSpPr>
          <p:spPr>
            <a:xfrm>
              <a:off x="0" y="0"/>
              <a:ext cx="99068" cy="99068"/>
            </a:xfrm>
            <a:custGeom>
              <a:avLst/>
              <a:gdLst/>
              <a:ahLst/>
              <a:cxnLst/>
              <a:rect l="l" t="t" r="r" b="b"/>
              <a:pathLst>
                <a:path w="99068" h="99068">
                  <a:moveTo>
                    <a:pt x="0" y="0"/>
                  </a:moveTo>
                  <a:lnTo>
                    <a:pt x="99068" y="0"/>
                  </a:lnTo>
                  <a:lnTo>
                    <a:pt x="99068" y="99068"/>
                  </a:lnTo>
                  <a:lnTo>
                    <a:pt x="0" y="99068"/>
                  </a:lnTo>
                  <a:close/>
                </a:path>
              </a:pathLst>
            </a:custGeom>
            <a:solidFill>
              <a:srgbClr val="78553F"/>
            </a:solidFill>
          </p:spPr>
        </p:sp>
        <p:sp>
          <p:nvSpPr>
            <p:cNvPr id="19" name="TextBox 19"/>
            <p:cNvSpPr txBox="1"/>
            <p:nvPr/>
          </p:nvSpPr>
          <p:spPr>
            <a:xfrm>
              <a:off x="0" y="-38100"/>
              <a:ext cx="99068" cy="137168"/>
            </a:xfrm>
            <a:prstGeom prst="rect">
              <a:avLst/>
            </a:prstGeom>
          </p:spPr>
          <p:txBody>
            <a:bodyPr lIns="50800" tIns="50800" rIns="50800" bIns="50800" rtlCol="0" anchor="ctr"/>
            <a:lstStyle/>
            <a:p>
              <a:pPr algn="ctr">
                <a:lnSpc>
                  <a:spcPts val="2659"/>
                </a:lnSpc>
              </a:pPr>
              <a:endParaRPr/>
            </a:p>
          </p:txBody>
        </p:sp>
      </p:grpSp>
      <p:sp>
        <p:nvSpPr>
          <p:cNvPr id="20" name="Freeform 20"/>
          <p:cNvSpPr/>
          <p:nvPr/>
        </p:nvSpPr>
        <p:spPr>
          <a:xfrm>
            <a:off x="1028700" y="8918663"/>
            <a:ext cx="321549" cy="321549"/>
          </a:xfrm>
          <a:custGeom>
            <a:avLst/>
            <a:gdLst/>
            <a:ahLst/>
            <a:cxnLst/>
            <a:rect l="l" t="t" r="r" b="b"/>
            <a:pathLst>
              <a:path w="321549" h="321549">
                <a:moveTo>
                  <a:pt x="0" y="0"/>
                </a:moveTo>
                <a:lnTo>
                  <a:pt x="321549" y="0"/>
                </a:lnTo>
                <a:lnTo>
                  <a:pt x="321549" y="321548"/>
                </a:lnTo>
                <a:lnTo>
                  <a:pt x="0" y="32154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1" name="TextBox 21"/>
          <p:cNvSpPr txBox="1"/>
          <p:nvPr/>
        </p:nvSpPr>
        <p:spPr>
          <a:xfrm>
            <a:off x="1028700" y="1026764"/>
            <a:ext cx="10290479" cy="5064473"/>
          </a:xfrm>
          <a:prstGeom prst="rect">
            <a:avLst/>
          </a:prstGeom>
        </p:spPr>
        <p:txBody>
          <a:bodyPr lIns="0" tIns="0" rIns="0" bIns="0" rtlCol="0" anchor="t">
            <a:spAutoFit/>
          </a:bodyPr>
          <a:lstStyle/>
          <a:p>
            <a:pPr algn="l">
              <a:lnSpc>
                <a:spcPts val="12864"/>
              </a:lnSpc>
            </a:pPr>
            <a:r>
              <a:rPr lang="en-US" sz="15315" spc="-612" dirty="0">
                <a:solidFill>
                  <a:srgbClr val="78553F"/>
                </a:solidFill>
                <a:latin typeface="Norwester"/>
                <a:ea typeface="Norwester"/>
                <a:cs typeface="Norwester"/>
                <a:sym typeface="Norwester"/>
              </a:rPr>
              <a:t>BRIGHT COFFEE SHOP ANALYSIS</a:t>
            </a:r>
          </a:p>
        </p:txBody>
      </p:sp>
      <p:sp>
        <p:nvSpPr>
          <p:cNvPr id="22" name="TextBox 22"/>
          <p:cNvSpPr txBox="1"/>
          <p:nvPr/>
        </p:nvSpPr>
        <p:spPr>
          <a:xfrm>
            <a:off x="14974230" y="1123950"/>
            <a:ext cx="2285070" cy="406913"/>
          </a:xfrm>
          <a:prstGeom prst="rect">
            <a:avLst/>
          </a:prstGeom>
        </p:spPr>
        <p:txBody>
          <a:bodyPr lIns="0" tIns="0" rIns="0" bIns="0" rtlCol="0" anchor="t">
            <a:spAutoFit/>
          </a:bodyPr>
          <a:lstStyle/>
          <a:p>
            <a:pPr algn="r">
              <a:lnSpc>
                <a:spcPts val="2910"/>
              </a:lnSpc>
            </a:pPr>
            <a:r>
              <a:rPr lang="en-US" sz="3345" spc="-133">
                <a:solidFill>
                  <a:srgbClr val="78553F"/>
                </a:solidFill>
                <a:latin typeface="Norwester"/>
                <a:ea typeface="Norwester"/>
                <a:cs typeface="Norwester"/>
                <a:sym typeface="Norwester"/>
              </a:rPr>
              <a:t>BCS, INC</a:t>
            </a:r>
          </a:p>
        </p:txBody>
      </p:sp>
      <p:sp>
        <p:nvSpPr>
          <p:cNvPr id="23" name="TextBox 23"/>
          <p:cNvSpPr txBox="1"/>
          <p:nvPr/>
        </p:nvSpPr>
        <p:spPr>
          <a:xfrm>
            <a:off x="7268502" y="7038201"/>
            <a:ext cx="4744428" cy="1066800"/>
          </a:xfrm>
          <a:prstGeom prst="rect">
            <a:avLst/>
          </a:prstGeom>
        </p:spPr>
        <p:txBody>
          <a:bodyPr lIns="0" tIns="0" rIns="0" bIns="0" rtlCol="0" anchor="t">
            <a:spAutoFit/>
          </a:bodyPr>
          <a:lstStyle/>
          <a:p>
            <a:pPr algn="l">
              <a:lnSpc>
                <a:spcPts val="4200"/>
              </a:lnSpc>
            </a:pPr>
            <a:r>
              <a:rPr lang="en-US" sz="3500" spc="-105">
                <a:solidFill>
                  <a:srgbClr val="FFFCEE"/>
                </a:solidFill>
                <a:latin typeface="Helvetica World"/>
                <a:ea typeface="Helvetica World"/>
                <a:cs typeface="Helvetica World"/>
                <a:sym typeface="Helvetica World"/>
              </a:rPr>
              <a:t>Presented By Tshegofatso Mapheto</a:t>
            </a:r>
          </a:p>
        </p:txBody>
      </p:sp>
      <p:sp>
        <p:nvSpPr>
          <p:cNvPr id="24" name="TextBox 24"/>
          <p:cNvSpPr txBox="1"/>
          <p:nvPr/>
        </p:nvSpPr>
        <p:spPr>
          <a:xfrm>
            <a:off x="1673551" y="8967249"/>
            <a:ext cx="2058006" cy="291084"/>
          </a:xfrm>
          <a:prstGeom prst="rect">
            <a:avLst/>
          </a:prstGeom>
        </p:spPr>
        <p:txBody>
          <a:bodyPr lIns="0" tIns="0" rIns="0" bIns="0" rtlCol="0" anchor="t">
            <a:spAutoFit/>
          </a:bodyPr>
          <a:lstStyle/>
          <a:p>
            <a:pPr algn="l">
              <a:lnSpc>
                <a:spcPts val="2088"/>
              </a:lnSpc>
            </a:pPr>
            <a:r>
              <a:rPr lang="en-US" sz="2400" spc="-96">
                <a:solidFill>
                  <a:srgbClr val="78553F"/>
                </a:solidFill>
                <a:latin typeface="Norwester"/>
                <a:ea typeface="Norwester"/>
                <a:cs typeface="Norwester"/>
                <a:sym typeface="Norwester"/>
              </a:rPr>
              <a:t>31 MARCH,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CEE"/>
        </a:solidFill>
        <a:effectLst/>
      </p:bgPr>
    </p:bg>
    <p:spTree>
      <p:nvGrpSpPr>
        <p:cNvPr id="1" name=""/>
        <p:cNvGrpSpPr/>
        <p:nvPr/>
      </p:nvGrpSpPr>
      <p:grpSpPr>
        <a:xfrm>
          <a:off x="0" y="0"/>
          <a:ext cx="0" cy="0"/>
          <a:chOff x="0" y="0"/>
          <a:chExt cx="0" cy="0"/>
        </a:xfrm>
      </p:grpSpPr>
      <p:grpSp>
        <p:nvGrpSpPr>
          <p:cNvPr id="2" name="Group 2"/>
          <p:cNvGrpSpPr/>
          <p:nvPr/>
        </p:nvGrpSpPr>
        <p:grpSpPr>
          <a:xfrm>
            <a:off x="10845054" y="1110"/>
            <a:ext cx="7542028" cy="10285890"/>
            <a:chOff x="0" y="0"/>
            <a:chExt cx="1986378" cy="2709041"/>
          </a:xfrm>
        </p:grpSpPr>
        <p:sp>
          <p:nvSpPr>
            <p:cNvPr id="3" name="Freeform 3"/>
            <p:cNvSpPr/>
            <p:nvPr/>
          </p:nvSpPr>
          <p:spPr>
            <a:xfrm>
              <a:off x="0" y="0"/>
              <a:ext cx="1986378" cy="2709041"/>
            </a:xfrm>
            <a:custGeom>
              <a:avLst/>
              <a:gdLst/>
              <a:ahLst/>
              <a:cxnLst/>
              <a:rect l="l" t="t" r="r" b="b"/>
              <a:pathLst>
                <a:path w="1986378" h="2709041">
                  <a:moveTo>
                    <a:pt x="0" y="0"/>
                  </a:moveTo>
                  <a:lnTo>
                    <a:pt x="1986378" y="0"/>
                  </a:lnTo>
                  <a:lnTo>
                    <a:pt x="1986378" y="2709041"/>
                  </a:lnTo>
                  <a:lnTo>
                    <a:pt x="0" y="2709041"/>
                  </a:lnTo>
                  <a:close/>
                </a:path>
              </a:pathLst>
            </a:custGeom>
            <a:solidFill>
              <a:srgbClr val="EAE5CF"/>
            </a:solidFill>
          </p:spPr>
        </p:sp>
        <p:sp>
          <p:nvSpPr>
            <p:cNvPr id="4" name="TextBox 4"/>
            <p:cNvSpPr txBox="1"/>
            <p:nvPr/>
          </p:nvSpPr>
          <p:spPr>
            <a:xfrm>
              <a:off x="0" y="-38100"/>
              <a:ext cx="1986378" cy="2747141"/>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1959901" y="1058655"/>
            <a:ext cx="446843" cy="446843"/>
          </a:xfrm>
          <a:custGeom>
            <a:avLst/>
            <a:gdLst/>
            <a:ahLst/>
            <a:cxnLst/>
            <a:rect l="l" t="t" r="r" b="b"/>
            <a:pathLst>
              <a:path w="446843" h="446843">
                <a:moveTo>
                  <a:pt x="0" y="0"/>
                </a:moveTo>
                <a:lnTo>
                  <a:pt x="446843" y="0"/>
                </a:lnTo>
                <a:lnTo>
                  <a:pt x="446843" y="446842"/>
                </a:lnTo>
                <a:lnTo>
                  <a:pt x="0" y="44684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3224611" y="471906"/>
            <a:ext cx="5299399" cy="1260839"/>
          </a:xfrm>
          <a:prstGeom prst="rect">
            <a:avLst/>
          </a:prstGeom>
        </p:spPr>
        <p:txBody>
          <a:bodyPr lIns="0" tIns="0" rIns="0" bIns="0" rtlCol="0" anchor="t">
            <a:spAutoFit/>
          </a:bodyPr>
          <a:lstStyle/>
          <a:p>
            <a:pPr algn="l">
              <a:lnSpc>
                <a:spcPts val="8950"/>
              </a:lnSpc>
            </a:pPr>
            <a:r>
              <a:rPr lang="en-US" sz="10654" spc="-426">
                <a:solidFill>
                  <a:srgbClr val="78553F"/>
                </a:solidFill>
                <a:latin typeface="Norwester"/>
                <a:ea typeface="Norwester"/>
                <a:cs typeface="Norwester"/>
                <a:sym typeface="Norwester"/>
              </a:rPr>
              <a:t>CONTENT</a:t>
            </a:r>
          </a:p>
        </p:txBody>
      </p:sp>
      <p:sp>
        <p:nvSpPr>
          <p:cNvPr id="7" name="Freeform 7"/>
          <p:cNvSpPr/>
          <p:nvPr/>
        </p:nvSpPr>
        <p:spPr>
          <a:xfrm>
            <a:off x="16937751" y="8936751"/>
            <a:ext cx="321549" cy="321549"/>
          </a:xfrm>
          <a:custGeom>
            <a:avLst/>
            <a:gdLst/>
            <a:ahLst/>
            <a:cxnLst/>
            <a:rect l="l" t="t" r="r" b="b"/>
            <a:pathLst>
              <a:path w="321549" h="321549">
                <a:moveTo>
                  <a:pt x="0" y="0"/>
                </a:moveTo>
                <a:lnTo>
                  <a:pt x="321549" y="0"/>
                </a:lnTo>
                <a:lnTo>
                  <a:pt x="321549" y="321549"/>
                </a:lnTo>
                <a:lnTo>
                  <a:pt x="0" y="32154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TextBox 8"/>
          <p:cNvSpPr txBox="1"/>
          <p:nvPr/>
        </p:nvSpPr>
        <p:spPr>
          <a:xfrm>
            <a:off x="12406744" y="1123950"/>
            <a:ext cx="2285070" cy="406913"/>
          </a:xfrm>
          <a:prstGeom prst="rect">
            <a:avLst/>
          </a:prstGeom>
        </p:spPr>
        <p:txBody>
          <a:bodyPr lIns="0" tIns="0" rIns="0" bIns="0" rtlCol="0" anchor="t">
            <a:spAutoFit/>
          </a:bodyPr>
          <a:lstStyle/>
          <a:p>
            <a:pPr algn="r">
              <a:lnSpc>
                <a:spcPts val="2910"/>
              </a:lnSpc>
            </a:pPr>
            <a:r>
              <a:rPr lang="en-US" sz="3345" spc="-133">
                <a:solidFill>
                  <a:srgbClr val="78553F"/>
                </a:solidFill>
                <a:latin typeface="Norwester"/>
                <a:ea typeface="Norwester"/>
                <a:cs typeface="Norwester"/>
                <a:sym typeface="Norwester"/>
              </a:rPr>
              <a:t>BCS, INC.</a:t>
            </a:r>
          </a:p>
        </p:txBody>
      </p:sp>
      <p:sp>
        <p:nvSpPr>
          <p:cNvPr id="9" name="TextBox 9"/>
          <p:cNvSpPr txBox="1"/>
          <p:nvPr/>
        </p:nvSpPr>
        <p:spPr>
          <a:xfrm>
            <a:off x="0" y="2569004"/>
            <a:ext cx="10845054" cy="3159640"/>
          </a:xfrm>
          <a:prstGeom prst="rect">
            <a:avLst/>
          </a:prstGeom>
        </p:spPr>
        <p:txBody>
          <a:bodyPr lIns="0" tIns="0" rIns="0" bIns="0" rtlCol="0" anchor="t">
            <a:spAutoFit/>
          </a:bodyPr>
          <a:lstStyle/>
          <a:p>
            <a:pPr marL="749284" lvl="1" indent="-374642" algn="l">
              <a:lnSpc>
                <a:spcPts val="4164"/>
              </a:lnSpc>
              <a:buAutoNum type="arabicPeriod"/>
            </a:pPr>
            <a:r>
              <a:rPr lang="en-US" sz="3470" spc="-104">
                <a:solidFill>
                  <a:srgbClr val="78553F"/>
                </a:solidFill>
                <a:latin typeface="Helvetica World"/>
                <a:ea typeface="Helvetica World"/>
                <a:cs typeface="Helvetica World"/>
                <a:sym typeface="Helvetica World"/>
              </a:rPr>
              <a:t>Introduction</a:t>
            </a:r>
          </a:p>
          <a:p>
            <a:pPr marL="749284" lvl="1" indent="-374642" algn="l">
              <a:lnSpc>
                <a:spcPts val="4164"/>
              </a:lnSpc>
              <a:buAutoNum type="arabicPeriod"/>
            </a:pPr>
            <a:r>
              <a:rPr lang="en-US" sz="3470" spc="-104">
                <a:solidFill>
                  <a:srgbClr val="78553F"/>
                </a:solidFill>
                <a:latin typeface="Helvetica World"/>
                <a:ea typeface="Helvetica World"/>
                <a:cs typeface="Helvetica World"/>
                <a:sym typeface="Helvetica World"/>
              </a:rPr>
              <a:t>Data Systems</a:t>
            </a:r>
          </a:p>
          <a:p>
            <a:pPr marL="749284" lvl="1" indent="-374642" algn="l">
              <a:lnSpc>
                <a:spcPts val="4164"/>
              </a:lnSpc>
              <a:buAutoNum type="arabicPeriod"/>
            </a:pPr>
            <a:r>
              <a:rPr lang="en-US" sz="3470" spc="-104">
                <a:solidFill>
                  <a:srgbClr val="78553F"/>
                </a:solidFill>
                <a:latin typeface="Helvetica World"/>
                <a:ea typeface="Helvetica World"/>
                <a:cs typeface="Helvetica World"/>
                <a:sym typeface="Helvetica World"/>
              </a:rPr>
              <a:t>Analysis</a:t>
            </a:r>
          </a:p>
          <a:p>
            <a:pPr marL="749284" lvl="1" indent="-374642" algn="l">
              <a:lnSpc>
                <a:spcPts val="4164"/>
              </a:lnSpc>
              <a:buAutoNum type="arabicPeriod"/>
            </a:pPr>
            <a:r>
              <a:rPr lang="en-US" sz="3470" spc="-104">
                <a:solidFill>
                  <a:srgbClr val="78553F"/>
                </a:solidFill>
                <a:latin typeface="Helvetica World"/>
                <a:ea typeface="Helvetica World"/>
                <a:cs typeface="Helvetica World"/>
                <a:sym typeface="Helvetica World"/>
              </a:rPr>
              <a:t>Recommendation</a:t>
            </a:r>
          </a:p>
          <a:p>
            <a:pPr marL="749284" lvl="1" indent="-374642" algn="l">
              <a:lnSpc>
                <a:spcPts val="4164"/>
              </a:lnSpc>
              <a:buAutoNum type="arabicPeriod"/>
            </a:pPr>
            <a:r>
              <a:rPr lang="en-US" sz="3470" spc="-104">
                <a:solidFill>
                  <a:srgbClr val="78553F"/>
                </a:solidFill>
                <a:latin typeface="Helvetica World"/>
                <a:ea typeface="Helvetica World"/>
                <a:cs typeface="Helvetica World"/>
                <a:sym typeface="Helvetica World"/>
              </a:rPr>
              <a:t>Implementation Plan</a:t>
            </a:r>
          </a:p>
          <a:p>
            <a:pPr marL="749284" lvl="1" indent="-374642" algn="l">
              <a:lnSpc>
                <a:spcPts val="4164"/>
              </a:lnSpc>
              <a:buAutoNum type="arabicPeriod"/>
            </a:pPr>
            <a:r>
              <a:rPr lang="en-US" sz="3470" spc="-104">
                <a:solidFill>
                  <a:srgbClr val="78553F"/>
                </a:solidFill>
                <a:latin typeface="Helvetica World"/>
                <a:ea typeface="Helvetica World"/>
                <a:cs typeface="Helvetica World"/>
                <a:sym typeface="Helvetica World"/>
              </a:rPr>
              <a:t>Q&amp;A</a:t>
            </a:r>
          </a:p>
        </p:txBody>
      </p:sp>
      <p:sp>
        <p:nvSpPr>
          <p:cNvPr id="10" name="TextBox 10"/>
          <p:cNvSpPr txBox="1"/>
          <p:nvPr/>
        </p:nvSpPr>
        <p:spPr>
          <a:xfrm>
            <a:off x="3841963" y="1475543"/>
            <a:ext cx="1385267" cy="514404"/>
          </a:xfrm>
          <a:prstGeom prst="rect">
            <a:avLst/>
          </a:prstGeom>
        </p:spPr>
        <p:txBody>
          <a:bodyPr lIns="0" tIns="0" rIns="0" bIns="0" rtlCol="0" anchor="t">
            <a:spAutoFit/>
          </a:bodyPr>
          <a:lstStyle/>
          <a:p>
            <a:pPr algn="ctr">
              <a:lnSpc>
                <a:spcPts val="4079"/>
              </a:lnSpc>
            </a:pPr>
            <a:r>
              <a:rPr lang="en-US" sz="3399" spc="-101">
                <a:solidFill>
                  <a:srgbClr val="FFFCEE"/>
                </a:solidFill>
                <a:latin typeface="Helvetica World"/>
                <a:ea typeface="Helvetica World"/>
                <a:cs typeface="Helvetica World"/>
                <a:sym typeface="Helvetica World"/>
              </a:rPr>
              <a:t>Origins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CEE"/>
        </a:solidFill>
        <a:effectLst/>
      </p:bgPr>
    </p:bg>
    <p:spTree>
      <p:nvGrpSpPr>
        <p:cNvPr id="1" name=""/>
        <p:cNvGrpSpPr/>
        <p:nvPr/>
      </p:nvGrpSpPr>
      <p:grpSpPr>
        <a:xfrm>
          <a:off x="0" y="0"/>
          <a:ext cx="0" cy="0"/>
          <a:chOff x="0" y="0"/>
          <a:chExt cx="0" cy="0"/>
        </a:xfrm>
      </p:grpSpPr>
      <p:grpSp>
        <p:nvGrpSpPr>
          <p:cNvPr id="2" name="Group 2"/>
          <p:cNvGrpSpPr/>
          <p:nvPr/>
        </p:nvGrpSpPr>
        <p:grpSpPr>
          <a:xfrm>
            <a:off x="-57125" y="0"/>
            <a:ext cx="6825703" cy="10285890"/>
            <a:chOff x="0" y="0"/>
            <a:chExt cx="1797716" cy="2709041"/>
          </a:xfrm>
        </p:grpSpPr>
        <p:sp>
          <p:nvSpPr>
            <p:cNvPr id="3" name="Freeform 3"/>
            <p:cNvSpPr/>
            <p:nvPr/>
          </p:nvSpPr>
          <p:spPr>
            <a:xfrm>
              <a:off x="0" y="0"/>
              <a:ext cx="1797716" cy="2709041"/>
            </a:xfrm>
            <a:custGeom>
              <a:avLst/>
              <a:gdLst/>
              <a:ahLst/>
              <a:cxnLst/>
              <a:rect l="l" t="t" r="r" b="b"/>
              <a:pathLst>
                <a:path w="1797716" h="2709041">
                  <a:moveTo>
                    <a:pt x="0" y="0"/>
                  </a:moveTo>
                  <a:lnTo>
                    <a:pt x="1797716" y="0"/>
                  </a:lnTo>
                  <a:lnTo>
                    <a:pt x="1797716" y="2709041"/>
                  </a:lnTo>
                  <a:lnTo>
                    <a:pt x="0" y="2709041"/>
                  </a:lnTo>
                  <a:close/>
                </a:path>
              </a:pathLst>
            </a:custGeom>
            <a:solidFill>
              <a:srgbClr val="EAE5CF"/>
            </a:solidFill>
          </p:spPr>
        </p:sp>
        <p:sp>
          <p:nvSpPr>
            <p:cNvPr id="4" name="TextBox 4"/>
            <p:cNvSpPr txBox="1"/>
            <p:nvPr/>
          </p:nvSpPr>
          <p:spPr>
            <a:xfrm>
              <a:off x="0" y="-38100"/>
              <a:ext cx="1797716" cy="2747141"/>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028700" y="2840934"/>
            <a:ext cx="4514062" cy="6417366"/>
            <a:chOff x="0" y="0"/>
            <a:chExt cx="812800" cy="1155508"/>
          </a:xfrm>
        </p:grpSpPr>
        <p:sp>
          <p:nvSpPr>
            <p:cNvPr id="6" name="Freeform 6"/>
            <p:cNvSpPr/>
            <p:nvPr/>
          </p:nvSpPr>
          <p:spPr>
            <a:xfrm>
              <a:off x="0" y="0"/>
              <a:ext cx="812800" cy="1155508"/>
            </a:xfrm>
            <a:custGeom>
              <a:avLst/>
              <a:gdLst/>
              <a:ahLst/>
              <a:cxnLst/>
              <a:rect l="l" t="t" r="r" b="b"/>
              <a:pathLst>
                <a:path w="812800" h="1155508">
                  <a:moveTo>
                    <a:pt x="0" y="0"/>
                  </a:moveTo>
                  <a:lnTo>
                    <a:pt x="812800" y="0"/>
                  </a:lnTo>
                  <a:lnTo>
                    <a:pt x="812800" y="1155508"/>
                  </a:lnTo>
                  <a:lnTo>
                    <a:pt x="0" y="1155508"/>
                  </a:lnTo>
                  <a:close/>
                </a:path>
              </a:pathLst>
            </a:custGeom>
            <a:blipFill>
              <a:blip r:embed="rId2"/>
              <a:stretch>
                <a:fillRect l="-3311" r="-3311"/>
              </a:stretch>
            </a:blipFill>
          </p:spPr>
        </p:sp>
      </p:grpSp>
      <p:sp>
        <p:nvSpPr>
          <p:cNvPr id="7" name="Freeform 7"/>
          <p:cNvSpPr/>
          <p:nvPr/>
        </p:nvSpPr>
        <p:spPr>
          <a:xfrm>
            <a:off x="14527388" y="1058655"/>
            <a:ext cx="446843" cy="446843"/>
          </a:xfrm>
          <a:custGeom>
            <a:avLst/>
            <a:gdLst/>
            <a:ahLst/>
            <a:cxnLst/>
            <a:rect l="l" t="t" r="r" b="b"/>
            <a:pathLst>
              <a:path w="446843" h="446843">
                <a:moveTo>
                  <a:pt x="0" y="0"/>
                </a:moveTo>
                <a:lnTo>
                  <a:pt x="446842" y="0"/>
                </a:lnTo>
                <a:lnTo>
                  <a:pt x="446842" y="446842"/>
                </a:lnTo>
                <a:lnTo>
                  <a:pt x="0" y="44684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8" name="Group 8"/>
          <p:cNvGrpSpPr/>
          <p:nvPr/>
        </p:nvGrpSpPr>
        <p:grpSpPr>
          <a:xfrm>
            <a:off x="7835816" y="1058655"/>
            <a:ext cx="662216" cy="635783"/>
            <a:chOff x="0" y="0"/>
            <a:chExt cx="174411" cy="167449"/>
          </a:xfrm>
        </p:grpSpPr>
        <p:sp>
          <p:nvSpPr>
            <p:cNvPr id="9" name="Freeform 9"/>
            <p:cNvSpPr/>
            <p:nvPr/>
          </p:nvSpPr>
          <p:spPr>
            <a:xfrm>
              <a:off x="0" y="0"/>
              <a:ext cx="174411" cy="167449"/>
            </a:xfrm>
            <a:custGeom>
              <a:avLst/>
              <a:gdLst/>
              <a:ahLst/>
              <a:cxnLst/>
              <a:rect l="l" t="t" r="r" b="b"/>
              <a:pathLst>
                <a:path w="174411" h="167449">
                  <a:moveTo>
                    <a:pt x="0" y="0"/>
                  </a:moveTo>
                  <a:lnTo>
                    <a:pt x="174411" y="0"/>
                  </a:lnTo>
                  <a:lnTo>
                    <a:pt x="174411" y="167449"/>
                  </a:lnTo>
                  <a:lnTo>
                    <a:pt x="0" y="167449"/>
                  </a:lnTo>
                  <a:close/>
                </a:path>
              </a:pathLst>
            </a:custGeom>
            <a:solidFill>
              <a:srgbClr val="78553F"/>
            </a:solidFill>
          </p:spPr>
        </p:sp>
        <p:sp>
          <p:nvSpPr>
            <p:cNvPr id="10" name="TextBox 10"/>
            <p:cNvSpPr txBox="1"/>
            <p:nvPr/>
          </p:nvSpPr>
          <p:spPr>
            <a:xfrm>
              <a:off x="0" y="-38100"/>
              <a:ext cx="174411" cy="205549"/>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8812892" y="1058655"/>
            <a:ext cx="662216" cy="665738"/>
            <a:chOff x="0" y="0"/>
            <a:chExt cx="174411" cy="175338"/>
          </a:xfrm>
        </p:grpSpPr>
        <p:sp>
          <p:nvSpPr>
            <p:cNvPr id="12" name="Freeform 12"/>
            <p:cNvSpPr/>
            <p:nvPr/>
          </p:nvSpPr>
          <p:spPr>
            <a:xfrm>
              <a:off x="0" y="0"/>
              <a:ext cx="174411" cy="175338"/>
            </a:xfrm>
            <a:custGeom>
              <a:avLst/>
              <a:gdLst/>
              <a:ahLst/>
              <a:cxnLst/>
              <a:rect l="l" t="t" r="r" b="b"/>
              <a:pathLst>
                <a:path w="174411" h="175338">
                  <a:moveTo>
                    <a:pt x="0" y="0"/>
                  </a:moveTo>
                  <a:lnTo>
                    <a:pt x="174411" y="0"/>
                  </a:lnTo>
                  <a:lnTo>
                    <a:pt x="174411" y="175338"/>
                  </a:lnTo>
                  <a:lnTo>
                    <a:pt x="0" y="175338"/>
                  </a:lnTo>
                  <a:close/>
                </a:path>
              </a:pathLst>
            </a:custGeom>
            <a:solidFill>
              <a:srgbClr val="EAE5CF"/>
            </a:solidFill>
          </p:spPr>
        </p:sp>
        <p:sp>
          <p:nvSpPr>
            <p:cNvPr id="13" name="TextBox 13"/>
            <p:cNvSpPr txBox="1"/>
            <p:nvPr/>
          </p:nvSpPr>
          <p:spPr>
            <a:xfrm>
              <a:off x="0" y="-38100"/>
              <a:ext cx="174411" cy="213438"/>
            </a:xfrm>
            <a:prstGeom prst="rect">
              <a:avLst/>
            </a:prstGeom>
          </p:spPr>
          <p:txBody>
            <a:bodyPr lIns="50800" tIns="50800" rIns="50800" bIns="50800" rtlCol="0" anchor="ctr"/>
            <a:lstStyle/>
            <a:p>
              <a:pPr algn="ctr">
                <a:lnSpc>
                  <a:spcPts val="2659"/>
                </a:lnSpc>
                <a:spcBef>
                  <a:spcPct val="0"/>
                </a:spcBef>
              </a:pPr>
              <a:endParaRPr/>
            </a:p>
          </p:txBody>
        </p:sp>
      </p:grpSp>
      <p:sp>
        <p:nvSpPr>
          <p:cNvPr id="14" name="Freeform 14"/>
          <p:cNvSpPr/>
          <p:nvPr/>
        </p:nvSpPr>
        <p:spPr>
          <a:xfrm>
            <a:off x="16937751" y="8936751"/>
            <a:ext cx="321549" cy="321549"/>
          </a:xfrm>
          <a:custGeom>
            <a:avLst/>
            <a:gdLst/>
            <a:ahLst/>
            <a:cxnLst/>
            <a:rect l="l" t="t" r="r" b="b"/>
            <a:pathLst>
              <a:path w="321549" h="321549">
                <a:moveTo>
                  <a:pt x="0" y="0"/>
                </a:moveTo>
                <a:lnTo>
                  <a:pt x="321549" y="0"/>
                </a:lnTo>
                <a:lnTo>
                  <a:pt x="321549" y="321549"/>
                </a:lnTo>
                <a:lnTo>
                  <a:pt x="0" y="32154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5" name="TextBox 15"/>
          <p:cNvSpPr txBox="1"/>
          <p:nvPr/>
        </p:nvSpPr>
        <p:spPr>
          <a:xfrm>
            <a:off x="7835816" y="3116477"/>
            <a:ext cx="9951843" cy="1772155"/>
          </a:xfrm>
          <a:prstGeom prst="rect">
            <a:avLst/>
          </a:prstGeom>
        </p:spPr>
        <p:txBody>
          <a:bodyPr lIns="0" tIns="0" rIns="0" bIns="0" rtlCol="0" anchor="t">
            <a:spAutoFit/>
          </a:bodyPr>
          <a:lstStyle/>
          <a:p>
            <a:pPr algn="l">
              <a:lnSpc>
                <a:spcPts val="12505"/>
              </a:lnSpc>
            </a:pPr>
            <a:r>
              <a:rPr lang="en-US" sz="14887" spc="-595">
                <a:solidFill>
                  <a:srgbClr val="78553F"/>
                </a:solidFill>
                <a:latin typeface="Norwester"/>
                <a:ea typeface="Norwester"/>
                <a:cs typeface="Norwester"/>
                <a:sym typeface="Norwester"/>
              </a:rPr>
              <a:t>INTRODUCTION</a:t>
            </a:r>
          </a:p>
        </p:txBody>
      </p:sp>
      <p:sp>
        <p:nvSpPr>
          <p:cNvPr id="16" name="TextBox 16"/>
          <p:cNvSpPr txBox="1"/>
          <p:nvPr/>
        </p:nvSpPr>
        <p:spPr>
          <a:xfrm>
            <a:off x="14974230" y="1123950"/>
            <a:ext cx="2285070" cy="406913"/>
          </a:xfrm>
          <a:prstGeom prst="rect">
            <a:avLst/>
          </a:prstGeom>
        </p:spPr>
        <p:txBody>
          <a:bodyPr lIns="0" tIns="0" rIns="0" bIns="0" rtlCol="0" anchor="t">
            <a:spAutoFit/>
          </a:bodyPr>
          <a:lstStyle/>
          <a:p>
            <a:pPr algn="r">
              <a:lnSpc>
                <a:spcPts val="2910"/>
              </a:lnSpc>
            </a:pPr>
            <a:r>
              <a:rPr lang="en-US" sz="3345" spc="-133">
                <a:solidFill>
                  <a:srgbClr val="78553F"/>
                </a:solidFill>
                <a:latin typeface="Norwester"/>
                <a:ea typeface="Norwester"/>
                <a:cs typeface="Norwester"/>
                <a:sym typeface="Norwester"/>
              </a:rPr>
              <a:t>BCS, INC.</a:t>
            </a:r>
          </a:p>
        </p:txBody>
      </p:sp>
      <p:sp>
        <p:nvSpPr>
          <p:cNvPr id="17" name="TextBox 17"/>
          <p:cNvSpPr txBox="1"/>
          <p:nvPr/>
        </p:nvSpPr>
        <p:spPr>
          <a:xfrm>
            <a:off x="7835816" y="5371059"/>
            <a:ext cx="9423484" cy="2228850"/>
          </a:xfrm>
          <a:prstGeom prst="rect">
            <a:avLst/>
          </a:prstGeom>
        </p:spPr>
        <p:txBody>
          <a:bodyPr lIns="0" tIns="0" rIns="0" bIns="0" rtlCol="0" anchor="t">
            <a:spAutoFit/>
          </a:bodyPr>
          <a:lstStyle/>
          <a:p>
            <a:pPr algn="l">
              <a:lnSpc>
                <a:spcPts val="3599"/>
              </a:lnSpc>
            </a:pPr>
            <a:r>
              <a:rPr lang="en-US" sz="2999" spc="-89">
                <a:solidFill>
                  <a:srgbClr val="78553F"/>
                </a:solidFill>
                <a:latin typeface="Helvetica World"/>
                <a:ea typeface="Helvetica World"/>
                <a:cs typeface="Helvetica World"/>
                <a:sym typeface="Helvetica World"/>
              </a:rPr>
              <a:t>This is a presentation made for the Bright Coffee Shop. The presentation will include graph and analysis on the revenue received by the company at different stores and different times. Different representations of the report is made to understand the data better.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CEE"/>
        </a:solidFill>
        <a:effectLst/>
      </p:bgPr>
    </p:bg>
    <p:spTree>
      <p:nvGrpSpPr>
        <p:cNvPr id="1" name=""/>
        <p:cNvGrpSpPr/>
        <p:nvPr/>
      </p:nvGrpSpPr>
      <p:grpSpPr>
        <a:xfrm>
          <a:off x="0" y="0"/>
          <a:ext cx="0" cy="0"/>
          <a:chOff x="0" y="0"/>
          <a:chExt cx="0" cy="0"/>
        </a:xfrm>
      </p:grpSpPr>
      <p:sp>
        <p:nvSpPr>
          <p:cNvPr id="2" name="Freeform 2"/>
          <p:cNvSpPr/>
          <p:nvPr/>
        </p:nvSpPr>
        <p:spPr>
          <a:xfrm>
            <a:off x="14527388" y="1058655"/>
            <a:ext cx="446843" cy="446843"/>
          </a:xfrm>
          <a:custGeom>
            <a:avLst/>
            <a:gdLst/>
            <a:ahLst/>
            <a:cxnLst/>
            <a:rect l="l" t="t" r="r" b="b"/>
            <a:pathLst>
              <a:path w="446843" h="446843">
                <a:moveTo>
                  <a:pt x="0" y="0"/>
                </a:moveTo>
                <a:lnTo>
                  <a:pt x="446842" y="0"/>
                </a:lnTo>
                <a:lnTo>
                  <a:pt x="446842" y="446842"/>
                </a:lnTo>
                <a:lnTo>
                  <a:pt x="0" y="44684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6937751" y="8936751"/>
            <a:ext cx="321549" cy="321549"/>
          </a:xfrm>
          <a:custGeom>
            <a:avLst/>
            <a:gdLst/>
            <a:ahLst/>
            <a:cxnLst/>
            <a:rect l="l" t="t" r="r" b="b"/>
            <a:pathLst>
              <a:path w="321549" h="321549">
                <a:moveTo>
                  <a:pt x="0" y="0"/>
                </a:moveTo>
                <a:lnTo>
                  <a:pt x="321549" y="0"/>
                </a:lnTo>
                <a:lnTo>
                  <a:pt x="321549" y="321549"/>
                </a:lnTo>
                <a:lnTo>
                  <a:pt x="0" y="32154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3521687" y="3028691"/>
            <a:ext cx="11452543" cy="6883709"/>
          </a:xfrm>
          <a:custGeom>
            <a:avLst/>
            <a:gdLst/>
            <a:ahLst/>
            <a:cxnLst/>
            <a:rect l="l" t="t" r="r" b="b"/>
            <a:pathLst>
              <a:path w="11452543" h="6883709">
                <a:moveTo>
                  <a:pt x="0" y="0"/>
                </a:moveTo>
                <a:lnTo>
                  <a:pt x="11452543" y="0"/>
                </a:lnTo>
                <a:lnTo>
                  <a:pt x="11452543" y="6883709"/>
                </a:lnTo>
                <a:lnTo>
                  <a:pt x="0" y="6883709"/>
                </a:lnTo>
                <a:lnTo>
                  <a:pt x="0" y="0"/>
                </a:lnTo>
                <a:close/>
              </a:path>
            </a:pathLst>
          </a:custGeom>
          <a:blipFill>
            <a:blip r:embed="rId6"/>
            <a:stretch>
              <a:fillRect/>
            </a:stretch>
          </a:blipFill>
        </p:spPr>
      </p:sp>
      <p:sp>
        <p:nvSpPr>
          <p:cNvPr id="5" name="TextBox 5"/>
          <p:cNvSpPr txBox="1"/>
          <p:nvPr/>
        </p:nvSpPr>
        <p:spPr>
          <a:xfrm>
            <a:off x="1024650" y="1114425"/>
            <a:ext cx="7085387" cy="365760"/>
          </a:xfrm>
          <a:prstGeom prst="rect">
            <a:avLst/>
          </a:prstGeom>
        </p:spPr>
        <p:txBody>
          <a:bodyPr lIns="0" tIns="0" rIns="0" bIns="0" rtlCol="0" anchor="t">
            <a:spAutoFit/>
          </a:bodyPr>
          <a:lstStyle/>
          <a:p>
            <a:pPr algn="l">
              <a:lnSpc>
                <a:spcPts val="2520"/>
              </a:lnSpc>
            </a:pPr>
            <a:r>
              <a:rPr lang="en-US" sz="3000" spc="-120">
                <a:solidFill>
                  <a:srgbClr val="78553F"/>
                </a:solidFill>
                <a:latin typeface="Norwester"/>
                <a:ea typeface="Norwester"/>
                <a:cs typeface="Norwester"/>
                <a:sym typeface="Norwester"/>
              </a:rPr>
              <a:t>REVENUE ANALYSIS |STORE LOCATION &amp; MONTH</a:t>
            </a:r>
          </a:p>
        </p:txBody>
      </p:sp>
      <p:sp>
        <p:nvSpPr>
          <p:cNvPr id="6" name="TextBox 6"/>
          <p:cNvSpPr txBox="1"/>
          <p:nvPr/>
        </p:nvSpPr>
        <p:spPr>
          <a:xfrm>
            <a:off x="14974230" y="1123950"/>
            <a:ext cx="2285070" cy="406913"/>
          </a:xfrm>
          <a:prstGeom prst="rect">
            <a:avLst/>
          </a:prstGeom>
        </p:spPr>
        <p:txBody>
          <a:bodyPr lIns="0" tIns="0" rIns="0" bIns="0" rtlCol="0" anchor="t">
            <a:spAutoFit/>
          </a:bodyPr>
          <a:lstStyle/>
          <a:p>
            <a:pPr algn="r">
              <a:lnSpc>
                <a:spcPts val="2910"/>
              </a:lnSpc>
            </a:pPr>
            <a:r>
              <a:rPr lang="en-US" sz="3345" spc="-133">
                <a:solidFill>
                  <a:srgbClr val="78553F"/>
                </a:solidFill>
                <a:latin typeface="Norwester"/>
                <a:ea typeface="Norwester"/>
                <a:cs typeface="Norwester"/>
                <a:sym typeface="Norwester"/>
              </a:rPr>
              <a:t>BTC, INC.</a:t>
            </a:r>
          </a:p>
        </p:txBody>
      </p:sp>
      <p:sp>
        <p:nvSpPr>
          <p:cNvPr id="7" name="TextBox 7"/>
          <p:cNvSpPr txBox="1"/>
          <p:nvPr/>
        </p:nvSpPr>
        <p:spPr>
          <a:xfrm>
            <a:off x="840614" y="2151039"/>
            <a:ext cx="11838713" cy="819150"/>
          </a:xfrm>
          <a:prstGeom prst="rect">
            <a:avLst/>
          </a:prstGeom>
        </p:spPr>
        <p:txBody>
          <a:bodyPr lIns="0" tIns="0" rIns="0" bIns="0" rtlCol="0" anchor="t">
            <a:spAutoFit/>
          </a:bodyPr>
          <a:lstStyle/>
          <a:p>
            <a:pPr algn="l">
              <a:lnSpc>
                <a:spcPts val="3120"/>
              </a:lnSpc>
            </a:pPr>
            <a:r>
              <a:rPr lang="en-US" sz="2600" spc="-78">
                <a:solidFill>
                  <a:srgbClr val="1A1A10"/>
                </a:solidFill>
                <a:latin typeface="Helvetica World"/>
                <a:ea typeface="Helvetica World"/>
                <a:cs typeface="Helvetica World"/>
                <a:sym typeface="Helvetica World"/>
              </a:rPr>
              <a:t>I</a:t>
            </a:r>
            <a:r>
              <a:rPr lang="en-US" sz="2600" b="1" spc="-78">
                <a:solidFill>
                  <a:srgbClr val="1A1A10"/>
                </a:solidFill>
                <a:latin typeface="Helvetica World Bold"/>
                <a:ea typeface="Helvetica World Bold"/>
                <a:cs typeface="Helvetica World Bold"/>
                <a:sym typeface="Helvetica World Bold"/>
              </a:rPr>
              <a:t>nsights</a:t>
            </a:r>
            <a:r>
              <a:rPr lang="en-US" sz="2600" spc="-78">
                <a:solidFill>
                  <a:srgbClr val="1A1A10"/>
                </a:solidFill>
                <a:latin typeface="Helvetica World"/>
                <a:ea typeface="Helvetica World"/>
                <a:cs typeface="Helvetica World"/>
                <a:sym typeface="Helvetica World"/>
              </a:rPr>
              <a:t>: Revenue across all the stores increase by 50% in the month of June as compared to January. This could be a seasonal change that influences sales.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CEE"/>
        </a:solidFill>
        <a:effectLst/>
      </p:bgPr>
    </p:bg>
    <p:spTree>
      <p:nvGrpSpPr>
        <p:cNvPr id="1" name=""/>
        <p:cNvGrpSpPr/>
        <p:nvPr/>
      </p:nvGrpSpPr>
      <p:grpSpPr>
        <a:xfrm>
          <a:off x="0" y="0"/>
          <a:ext cx="0" cy="0"/>
          <a:chOff x="0" y="0"/>
          <a:chExt cx="0" cy="0"/>
        </a:xfrm>
      </p:grpSpPr>
      <p:sp>
        <p:nvSpPr>
          <p:cNvPr id="2" name="Freeform 2"/>
          <p:cNvSpPr/>
          <p:nvPr/>
        </p:nvSpPr>
        <p:spPr>
          <a:xfrm>
            <a:off x="14527388" y="1058655"/>
            <a:ext cx="446843" cy="446843"/>
          </a:xfrm>
          <a:custGeom>
            <a:avLst/>
            <a:gdLst/>
            <a:ahLst/>
            <a:cxnLst/>
            <a:rect l="l" t="t" r="r" b="b"/>
            <a:pathLst>
              <a:path w="446843" h="446843">
                <a:moveTo>
                  <a:pt x="0" y="0"/>
                </a:moveTo>
                <a:lnTo>
                  <a:pt x="446842" y="0"/>
                </a:lnTo>
                <a:lnTo>
                  <a:pt x="446842" y="446842"/>
                </a:lnTo>
                <a:lnTo>
                  <a:pt x="0" y="44684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0" y="0"/>
            <a:ext cx="9352318" cy="10287000"/>
            <a:chOff x="0" y="0"/>
            <a:chExt cx="5506608" cy="6056945"/>
          </a:xfrm>
        </p:grpSpPr>
        <p:sp>
          <p:nvSpPr>
            <p:cNvPr id="4" name="Freeform 4"/>
            <p:cNvSpPr/>
            <p:nvPr/>
          </p:nvSpPr>
          <p:spPr>
            <a:xfrm>
              <a:off x="0" y="0"/>
              <a:ext cx="5506608" cy="6056945"/>
            </a:xfrm>
            <a:custGeom>
              <a:avLst/>
              <a:gdLst/>
              <a:ahLst/>
              <a:cxnLst/>
              <a:rect l="l" t="t" r="r" b="b"/>
              <a:pathLst>
                <a:path w="5506608" h="6056945">
                  <a:moveTo>
                    <a:pt x="0" y="0"/>
                  </a:moveTo>
                  <a:lnTo>
                    <a:pt x="5506608" y="0"/>
                  </a:lnTo>
                  <a:lnTo>
                    <a:pt x="5506608" y="6056945"/>
                  </a:lnTo>
                  <a:lnTo>
                    <a:pt x="0" y="6056945"/>
                  </a:lnTo>
                  <a:close/>
                </a:path>
              </a:pathLst>
            </a:custGeom>
            <a:solidFill>
              <a:srgbClr val="EAE5CF"/>
            </a:solidFill>
          </p:spPr>
        </p:sp>
        <p:sp>
          <p:nvSpPr>
            <p:cNvPr id="5" name="TextBox 5"/>
            <p:cNvSpPr txBox="1"/>
            <p:nvPr/>
          </p:nvSpPr>
          <p:spPr>
            <a:xfrm>
              <a:off x="0" y="-38100"/>
              <a:ext cx="5506608" cy="6095045"/>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16937751" y="5557103"/>
            <a:ext cx="321549" cy="321549"/>
          </a:xfrm>
          <a:custGeom>
            <a:avLst/>
            <a:gdLst/>
            <a:ahLst/>
            <a:cxnLst/>
            <a:rect l="l" t="t" r="r" b="b"/>
            <a:pathLst>
              <a:path w="321549" h="321549">
                <a:moveTo>
                  <a:pt x="0" y="0"/>
                </a:moveTo>
                <a:lnTo>
                  <a:pt x="321549" y="0"/>
                </a:lnTo>
                <a:lnTo>
                  <a:pt x="321549" y="321548"/>
                </a:lnTo>
                <a:lnTo>
                  <a:pt x="0" y="32154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9352318" y="4041727"/>
            <a:ext cx="8935682" cy="5216573"/>
          </a:xfrm>
          <a:custGeom>
            <a:avLst/>
            <a:gdLst/>
            <a:ahLst/>
            <a:cxnLst/>
            <a:rect l="l" t="t" r="r" b="b"/>
            <a:pathLst>
              <a:path w="8935682" h="5216573">
                <a:moveTo>
                  <a:pt x="0" y="0"/>
                </a:moveTo>
                <a:lnTo>
                  <a:pt x="8935682" y="0"/>
                </a:lnTo>
                <a:lnTo>
                  <a:pt x="8935682" y="5216573"/>
                </a:lnTo>
                <a:lnTo>
                  <a:pt x="0" y="5216573"/>
                </a:lnTo>
                <a:lnTo>
                  <a:pt x="0" y="0"/>
                </a:lnTo>
                <a:close/>
              </a:path>
            </a:pathLst>
          </a:custGeom>
          <a:blipFill>
            <a:blip r:embed="rId6"/>
            <a:stretch>
              <a:fillRect/>
            </a:stretch>
          </a:blipFill>
        </p:spPr>
      </p:sp>
      <p:sp>
        <p:nvSpPr>
          <p:cNvPr id="8" name="Freeform 8"/>
          <p:cNvSpPr/>
          <p:nvPr/>
        </p:nvSpPr>
        <p:spPr>
          <a:xfrm>
            <a:off x="0" y="4041727"/>
            <a:ext cx="9352318" cy="5216573"/>
          </a:xfrm>
          <a:custGeom>
            <a:avLst/>
            <a:gdLst/>
            <a:ahLst/>
            <a:cxnLst/>
            <a:rect l="l" t="t" r="r" b="b"/>
            <a:pathLst>
              <a:path w="9352318" h="5216573">
                <a:moveTo>
                  <a:pt x="0" y="0"/>
                </a:moveTo>
                <a:lnTo>
                  <a:pt x="9352318" y="0"/>
                </a:lnTo>
                <a:lnTo>
                  <a:pt x="9352318" y="5216573"/>
                </a:lnTo>
                <a:lnTo>
                  <a:pt x="0" y="5216573"/>
                </a:lnTo>
                <a:lnTo>
                  <a:pt x="0" y="0"/>
                </a:lnTo>
                <a:close/>
              </a:path>
            </a:pathLst>
          </a:custGeom>
          <a:blipFill>
            <a:blip r:embed="rId7"/>
            <a:stretch>
              <a:fillRect t="-3879" b="-3879"/>
            </a:stretch>
          </a:blipFill>
        </p:spPr>
      </p:sp>
      <p:sp>
        <p:nvSpPr>
          <p:cNvPr id="9" name="TextBox 9"/>
          <p:cNvSpPr txBox="1"/>
          <p:nvPr/>
        </p:nvSpPr>
        <p:spPr>
          <a:xfrm>
            <a:off x="611439" y="879732"/>
            <a:ext cx="8532561" cy="390526"/>
          </a:xfrm>
          <a:prstGeom prst="rect">
            <a:avLst/>
          </a:prstGeom>
        </p:spPr>
        <p:txBody>
          <a:bodyPr lIns="0" tIns="0" rIns="0" bIns="0" rtlCol="0" anchor="t">
            <a:spAutoFit/>
          </a:bodyPr>
          <a:lstStyle/>
          <a:p>
            <a:pPr algn="just">
              <a:lnSpc>
                <a:spcPts val="2700"/>
              </a:lnSpc>
            </a:pPr>
            <a:r>
              <a:rPr lang="en-US" sz="3000" spc="-120">
                <a:solidFill>
                  <a:srgbClr val="1A1A10"/>
                </a:solidFill>
                <a:latin typeface="Norwester"/>
                <a:ea typeface="Norwester"/>
                <a:cs typeface="Norwester"/>
                <a:sym typeface="Norwester"/>
              </a:rPr>
              <a:t>REVENUE ANALYSIS |STORE LOCATION &amp; TIME OF THE DAY</a:t>
            </a:r>
          </a:p>
        </p:txBody>
      </p:sp>
      <p:sp>
        <p:nvSpPr>
          <p:cNvPr id="10" name="TextBox 10"/>
          <p:cNvSpPr txBox="1"/>
          <p:nvPr/>
        </p:nvSpPr>
        <p:spPr>
          <a:xfrm>
            <a:off x="14974230" y="1123950"/>
            <a:ext cx="2285070" cy="406913"/>
          </a:xfrm>
          <a:prstGeom prst="rect">
            <a:avLst/>
          </a:prstGeom>
        </p:spPr>
        <p:txBody>
          <a:bodyPr lIns="0" tIns="0" rIns="0" bIns="0" rtlCol="0" anchor="t">
            <a:spAutoFit/>
          </a:bodyPr>
          <a:lstStyle/>
          <a:p>
            <a:pPr algn="r">
              <a:lnSpc>
                <a:spcPts val="2910"/>
              </a:lnSpc>
            </a:pPr>
            <a:r>
              <a:rPr lang="en-US" sz="3345" spc="-133">
                <a:solidFill>
                  <a:srgbClr val="78553F"/>
                </a:solidFill>
                <a:latin typeface="Norwester"/>
                <a:ea typeface="Norwester"/>
                <a:cs typeface="Norwester"/>
                <a:sym typeface="Norwester"/>
              </a:rPr>
              <a:t>BTC, INC.</a:t>
            </a:r>
          </a:p>
        </p:txBody>
      </p:sp>
      <p:sp>
        <p:nvSpPr>
          <p:cNvPr id="11" name="TextBox 11"/>
          <p:cNvSpPr txBox="1"/>
          <p:nvPr/>
        </p:nvSpPr>
        <p:spPr>
          <a:xfrm>
            <a:off x="611439" y="2295005"/>
            <a:ext cx="16647861" cy="1028700"/>
          </a:xfrm>
          <a:prstGeom prst="rect">
            <a:avLst/>
          </a:prstGeom>
        </p:spPr>
        <p:txBody>
          <a:bodyPr lIns="0" tIns="0" rIns="0" bIns="0" rtlCol="0" anchor="t">
            <a:spAutoFit/>
          </a:bodyPr>
          <a:lstStyle/>
          <a:p>
            <a:pPr marL="734059" lvl="1" indent="-367030" algn="l">
              <a:lnSpc>
                <a:spcPts val="4079"/>
              </a:lnSpc>
              <a:buFont typeface="Arial"/>
              <a:buChar char="•"/>
            </a:pPr>
            <a:r>
              <a:rPr lang="en-US" sz="3399" spc="-101">
                <a:solidFill>
                  <a:srgbClr val="78553F"/>
                </a:solidFill>
                <a:latin typeface="Helvetica World"/>
                <a:ea typeface="Helvetica World"/>
                <a:cs typeface="Helvetica World"/>
                <a:sym typeface="Helvetica World"/>
              </a:rPr>
              <a:t>Morning Slaes contributes 56% of the sales followed by afternoon which contributes 30% of the sales, however the evening contributes the lowest sales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163</Words>
  <Application>Microsoft Office PowerPoint</Application>
  <PresentationFormat>Custom</PresentationFormat>
  <Paragraphs>22</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Helvetica World</vt:lpstr>
      <vt:lpstr>Norwester</vt:lpstr>
      <vt:lpstr>Helvetica World Bold</vt:lpstr>
      <vt:lpstr>Calibri</vt:lpstr>
      <vt:lpstr>Arial</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Brown and Beige Modern Coffee Shop Presentation</dc:title>
  <dc:creator>Tshegofatso Mapheto</dc:creator>
  <cp:lastModifiedBy>Tshegofatso Mapheto</cp:lastModifiedBy>
  <cp:revision>1</cp:revision>
  <dcterms:created xsi:type="dcterms:W3CDTF">2006-08-16T00:00:00Z</dcterms:created>
  <dcterms:modified xsi:type="dcterms:W3CDTF">2026-04-01T17:02:39Z</dcterms:modified>
  <dc:identifier>DAHFmN1CuXw</dc:identifier>
</cp:coreProperties>
</file>